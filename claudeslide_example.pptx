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10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presProps" Target="presProps.xml"/>
  <Relationship Id="rId3" Type="http://schemas.openxmlformats.org/officeDocument/2006/relationships/viewProps" Target="viewProps.xml"/>
  <Relationship Id="rId4" Type="http://schemas.openxmlformats.org/officeDocument/2006/relationships/theme" Target="theme/theme1.xml"/>
  <Relationship Id="rId5" Type="http://schemas.openxmlformats.org/officeDocument/2006/relationships/tableStyles" Target="tableStyles.xml"/>
  <Relationship Id="rId6" Type="http://schemas.openxmlformats.org/officeDocument/2006/relationships/slide" Target="slides/slide1.xml"/>
  <Relationship Id="rId7" Type="http://schemas.openxmlformats.org/officeDocument/2006/relationships/slide" Target="slides/slide2.xml"/>
  <Relationship Id="rId8" Type="http://schemas.openxmlformats.org/officeDocument/2006/relationships/slide" Target="slides/slide3.xml"/>
  <Relationship Id="rId9" Type="http://schemas.openxmlformats.org/officeDocument/2006/relationships/slide" Target="slides/slide4.xml"/>
  <Relationship Id="rId10" Type="http://schemas.openxmlformats.org/officeDocument/2006/relationships/slide" Target="slides/slide5.xml"/>
  <Relationship Id="rId11" Type="http://schemas.openxmlformats.org/officeDocument/2006/relationships/slide" Target="slides/slide6.xml"/>
  <Relationship Id="rId12" Type="http://schemas.openxmlformats.org/officeDocument/2006/relationships/slide" Target="slides/slide7.xml"/>
  <Relationship Id="rId13" Type="http://schemas.openxmlformats.org/officeDocument/2006/relationships/slide" Target="slides/slide8.xml"/>
  <Relationship Id="rId14" Type="http://schemas.openxmlformats.org/officeDocument/2006/relationships/slide" Target="slides/slide9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50000">
              <a:srgbClr val="1B263B"/>
            </a:gs>
            <a:gs pos="100000">
              <a:srgbClr val="0D1B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ation Circle 1"/>
          <p:cNvSpPr/>
          <p:nvPr/>
        </p:nvSpPr>
        <p:spPr>
          <a:xfrm>
            <a:off x="10500000" y="-500000"/>
            <a:ext cx="2500000" cy="2500000"/>
          </a:xfrm>
          <a:prstGeom prst="ellipse">
            <a:avLst/>
          </a:prstGeom>
          <a:gradFill rotWithShape="1">
            <a:gsLst>
              <a:gs pos="0">
                <a:srgbClr val="00D4FF">
                  <a:alpha val="30000"/>
                </a:srgbClr>
              </a:gs>
              <a:gs pos="100000">
                <a:srgbClr val="7B2CBF">
                  <a:alpha val="10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ecoration Circle 2"/>
          <p:cNvSpPr/>
          <p:nvPr/>
        </p:nvSpPr>
        <p:spPr>
          <a:xfrm>
            <a:off x="-800000" y="5000000"/>
            <a:ext cx="3000000" cy="3000000"/>
          </a:xfrm>
          <a:prstGeom prst="ellipse">
            <a:avLst/>
          </a:prstGeom>
          <a:gradFill rotWithShape="1">
            <a:gsLst>
              <a:gs pos="0">
                <a:srgbClr val="7B2CBF">
                  <a:alpha val="25000"/>
                </a:srgbClr>
              </a:gs>
              <a:gs pos="100000">
                <a:srgbClr val="E63946">
                  <a:alpha val="5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ccent Lin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logo.svg"/>
</Relationships>
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50000">
              <a:srgbClr val="1B263B"/>
            </a:gs>
            <a:gs pos="100000">
              <a:srgbClr val="0D1B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Decorative gradient bar at top -->
      <p:sp>
        <p:nvSpPr>
          <p:cNvPr id="2" name="Top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!-- Logo/Icon placeholder -->
      <p:pic>
        <p:nvPicPr>
          <p:cNvPr id="3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000" y="1500000"/>
            <a:ext cx="1800000" cy="1800000"/>
          </a:xfrm>
          <a:prstGeom prst="rect">
            <a:avLst/>
          </a:prstGeom>
        </p:spPr>
      </p:pic>
      <!-- Title -->
      <p:sp>
        <p:nvSpPr>
          <p:cNvPr id="4" name="Title"/>
          <p:cNvSpPr txBox="1"/>
          <p:nvPr/>
        </p:nvSpPr>
        <p:spPr>
          <a:xfrm>
            <a:off x="609600" y="3400000"/>
            <a:ext cx="10972800" cy="9144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6000" b="1">
                <a:solidFill>
                  <a:srgbClr val="00D4FF"/>
                </a:solidFill>
                <a:latin typeface="Segoe UI Light"/>
              </a:rPr>
              <a:t>Claude</a:t>
            </a:r>
            <a:r>
              <a:rPr lang="en-US" sz="6000" b="1">
                <a:solidFill>
                  <a:srgbClr val="FFFFFF"/>
                </a:solidFill>
                <a:latin typeface="Segoe UI Light"/>
              </a:rPr>
              <a:t>Slide</a:t>
            </a:r>
          </a:p>
        </p:txBody>
      </p:sp>
      <!-- Subtitle -->
      <p:sp>
        <p:nvSpPr>
          <p:cNvPr id="5" name="Subtitle"/>
          <p:cNvSpPr txBox="1"/>
          <p:nvPr/>
        </p:nvSpPr>
        <p:spPr>
          <a:xfrm>
            <a:off x="609600" y="4400000"/>
            <a:ext cx="10972800" cy="6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>
                <a:solidFill>
                  <a:srgbClr val="E0E1DD"/>
                </a:solidFill>
                <a:latin typeface="Segoe UI"/>
              </a:rPr>
              <a:t>AI-Powered PowerPoint Editing with Claude's XML Understanding</a:t>
            </a:r>
          </a:p>
        </p:txBody>
      </p:sp>
      <!-- Tagline -->
      <p:sp>
        <p:nvSpPr>
          <p:cNvPr id="6" name="Tagline"/>
          <p:cNvSpPr txBox="1"/>
          <p:nvPr/>
        </p:nvSpPr>
        <p:spPr>
          <a:xfrm>
            <a:off x="609600" y="5200000"/>
            <a:ext cx="109728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i="1">
                <a:solidFill>
                  <a:srgbClr val="7B2CBF"/>
                </a:solidFill>
                <a:latin typeface="Segoe UI"/>
              </a:rPr>
              <a:t>Edit existing templates with natural language commands</a:t>
            </a:r>
          </a:p>
        </p:txBody>
      </p:sp>
      <!-- Bottom gradient bar -->
      <p:sp>
        <p:nvSpPr>
          <p:cNvPr id="7" name="Bottom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E63946"/>
              </a:gs>
              <a:gs pos="50000">
                <a:srgbClr val="7B2CBF"/>
              </a:gs>
              <a:gs pos="100000">
                <a:srgbClr val="00D4FF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E63946"/>
                </a:solidFill>
                <a:latin typeface="Segoe UI Light"/>
              </a:rPr>
              <a:t>The Problem</a:t>
            </a:r>
          </a:p>
        </p:txBody>
      </p:sp>
      <!-- Subtitle -->
      <p:sp>
        <p:nvSpPr>
          <p:cNvPr id="4" name="Subtitle"/>
          <p:cNvSpPr txBox="1"/>
          <p:nvPr/>
        </p:nvSpPr>
        <p:spPr>
          <a:xfrm>
            <a:off x="457200" y="1189038"/>
            <a:ext cx="11277600" cy="457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2000">
                <a:solidFill>
                  <a:srgbClr val="E0E1DD"/>
                </a:solidFill>
                <a:latin typeface="Segoe UI"/>
              </a:rPr>
              <a:t>Current AI slide generation tools have significant limitations</a:t>
            </a:r>
          </a:p>
        </p:txBody>
      </p:sp>
      <!-- Problem cards -->
      <p:sp>
        <p:nvSpPr>
          <p:cNvPr id="5" name="Card1"/>
          <p:cNvSpPr/>
          <p:nvPr/>
        </p:nvSpPr>
        <p:spPr>
          <a:xfrm>
            <a:off x="457200" y="1900000"/>
            <a:ext cx="5400000" cy="1000000"/>
          </a:xfrm>
          <a:prstGeom prst="roundRect">
            <a:avLst>
              <a:gd name="adj" fmla="val 8000"/>
            </a:avLst>
          </a:prstGeom>
          <a:solidFill>
            <a:srgbClr val="1B263B">
              <a:alpha val="80000"/>
            </a:srgbClr>
          </a:solidFill>
          <a:ln w="19050">
            <a:solidFill>
              <a:srgbClr val="E63946"/>
            </a:solidFill>
          </a:ln>
        </p:spPr>
        <p:txBody>
          <a:bodyPr anchor="ctr" lIns="182880" rIns="182880"/>
          <a:lstStyle/>
          <a:p>
            <a:r>
              <a:rPr lang="en-US" sz="2000" b="1">
                <a:solidFill>
                  <a:srgbClr val="E63946"/>
                </a:solidFill>
                <a:latin typeface="Segoe UI"/>
              </a:rPr>
              <a:t>No Template Support</a:t>
            </a:r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Cannot use existing corporate templates with brand guidelines</a:t>
            </a:r>
          </a:p>
        </p:txBody>
      </p:sp>
      <p:sp>
        <p:nvSpPr>
          <p:cNvPr id="6" name="Card2"/>
          <p:cNvSpPr/>
          <p:nvPr/>
        </p:nvSpPr>
        <p:spPr>
          <a:xfrm>
            <a:off x="6100000" y="1900000"/>
            <a:ext cx="5400000" cy="1000000"/>
          </a:xfrm>
          <a:prstGeom prst="roundRect">
            <a:avLst>
              <a:gd name="adj" fmla="val 8000"/>
            </a:avLst>
          </a:prstGeom>
          <a:solidFill>
            <a:srgbClr val="1B263B">
              <a:alpha val="80000"/>
            </a:srgbClr>
          </a:solidFill>
          <a:ln w="19050">
            <a:solidFill>
              <a:srgbClr val="E63946"/>
            </a:solidFill>
          </a:ln>
        </p:spPr>
        <p:txBody>
          <a:bodyPr anchor="ctr" lIns="182880" rIns="182880"/>
          <a:lstStyle/>
          <a:p>
            <a:r>
              <a:rPr lang="en-US" sz="2000" b="1">
                <a:solidFill>
                  <a:srgbClr val="E63946"/>
                </a:solidFill>
                <a:latin typeface="Segoe UI"/>
              </a:rPr>
              <a:t>Data Loss on Conversion</a:t>
            </a:r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Slide masters, animations, and speaker notes are lost</a:t>
            </a:r>
          </a:p>
        </p:txBody>
      </p:sp>
      <p:sp>
        <p:nvSpPr>
          <p:cNvPr id="7" name="Card3"/>
          <p:cNvSpPr/>
          <p:nvPr/>
        </p:nvSpPr>
        <p:spPr>
          <a:xfrm>
            <a:off x="457200" y="3100000"/>
            <a:ext cx="5400000" cy="1000000"/>
          </a:xfrm>
          <a:prstGeom prst="roundRect">
            <a:avLst>
              <a:gd name="adj" fmla="val 8000"/>
            </a:avLst>
          </a:prstGeom>
          <a:solidFill>
            <a:srgbClr val="1B263B">
              <a:alpha val="80000"/>
            </a:srgbClr>
          </a:solidFill>
          <a:ln w="19050">
            <a:solidFill>
              <a:srgbClr val="E63946"/>
            </a:solidFill>
          </a:ln>
        </p:spPr>
        <p:txBody>
          <a:bodyPr anchor="ctr" lIns="182880" rIns="182880"/>
          <a:lstStyle/>
          <a:p>
            <a:r>
              <a:rPr lang="en-US" sz="2000" b="1">
                <a:solidFill>
                  <a:srgbClr val="E63946"/>
                </a:solidFill>
                <a:latin typeface="Segoe UI"/>
              </a:rPr>
              <a:t>Difficult Partial Edits</a:t>
            </a:r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"Just change the title on slide 3" becomes a major task</a:t>
            </a:r>
          </a:p>
        </p:txBody>
      </p:sp>
      <p:sp>
        <p:nvSpPr>
          <p:cNvPr id="8" name="Card4"/>
          <p:cNvSpPr/>
          <p:nvPr/>
        </p:nvSpPr>
        <p:spPr>
          <a:xfrm>
            <a:off x="6100000" y="3100000"/>
            <a:ext cx="5400000" cy="1000000"/>
          </a:xfrm>
          <a:prstGeom prst="roundRect">
            <a:avLst>
              <a:gd name="adj" fmla="val 8000"/>
            </a:avLst>
          </a:prstGeom>
          <a:solidFill>
            <a:srgbClr val="1B263B">
              <a:alpha val="80000"/>
            </a:srgbClr>
          </a:solidFill>
          <a:ln w="19050">
            <a:solidFill>
              <a:srgbClr val="E63946"/>
            </a:solidFill>
          </a:ln>
        </p:spPr>
        <p:txBody>
          <a:bodyPr anchor="ctr" lIns="182880" rIns="182880"/>
          <a:lstStyle/>
          <a:p>
            <a:r>
              <a:rPr lang="en-US" sz="2000" b="1">
                <a:solidFill>
                  <a:srgbClr val="E63946"/>
                </a:solidFill>
                <a:latin typeface="Segoe UI"/>
              </a:rPr>
              <a:t>No Version Control</a:t>
            </a:r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Cannot track changes or collaborate with Git workflows</a:t>
            </a:r>
          </a:p>
        </p:txBody>
      </p:sp>
      <!-- Quote section -->
      <p:sp>
        <p:nvSpPr>
          <p:cNvPr id="9" name="Quote"/>
          <p:cNvSpPr txBox="1"/>
          <p:nvPr/>
        </p:nvSpPr>
        <p:spPr>
          <a:xfrm>
            <a:off x="457200" y="4600000"/>
            <a:ext cx="11277600" cy="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400" i="1">
                <a:solidFill>
                  <a:srgbClr val="7B2CBF"/>
                </a:solidFill>
                <a:latin typeface="Segoe UI"/>
              </a:rPr>
              <a:t>"Enterprises need to edit existing presentations, not generate from scratch"</a:t>
            </a:r>
          </a:p>
        </p:txBody>
      </p:sp>
      <!-- Divider line -->
      <p:sp>
        <p:nvSpPr>
          <p:cNvPr id="10" name="Divider"/>
          <p:cNvSpPr/>
          <p:nvPr/>
        </p:nvSpPr>
        <p:spPr>
          <a:xfrm>
            <a:off x="3000000" y="5600000"/>
            <a:ext cx="6192000" cy="19050"/>
          </a:xfrm>
          <a:prstGeom prst="rect">
            <a:avLst/>
          </a:prstGeom>
          <a:gradFill>
            <a:gsLst>
              <a:gs pos="0">
                <a:srgbClr val="0D1B2A"/>
              </a:gs>
              <a:gs pos="50000">
                <a:srgbClr val="7B2CBF"/>
              </a:gs>
              <a:gs pos="100000">
                <a:srgbClr val="0D1B2A"/>
              </a:gs>
            </a:gsLst>
            <a:lin ang="0" scaled="0"/>
          </a:gradFill>
        </p:spPr>
        <p:txBody>
          <a:bodyPr/>
          <a:lstStyle/>
          <a:p>
            <a:endParaRPr lang="en-US"/>
          </a:p>
        </p:txBody>
      </p:sp>
      <!-- Context -->
      <p:sp>
        <p:nvSpPr>
          <p:cNvPr id="11" name="Context"/>
          <p:cNvSpPr txBox="1"/>
          <p:nvPr/>
        </p:nvSpPr>
        <p:spPr>
          <a:xfrm>
            <a:off x="457200" y="5800000"/>
            <a:ext cx="11277600" cy="6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en-US" sz="1400">
                <a:solidFill>
                  <a:srgbClr val="E0E1DD">
                    <a:alpha val="70000"/>
                  </a:srgbClr>
                </a:solidFill>
                <a:latin typeface="Segoe UI"/>
              </a:rPr>
              <a:t>November 2025: Gemini 3.0 and Nano Banana Pro sparked the AI slide generation trend, but...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2EC4B6"/>
                </a:solidFill>
                <a:latin typeface="Segoe UI Light"/>
              </a:rPr>
              <a:t>The Solution</a:t>
            </a:r>
          </a:p>
        </p:txBody>
      </p:sp>
      <!-- Subtitle -->
      <p:sp>
        <p:nvSpPr>
          <p:cNvPr id="4" name="Subtitle"/>
          <p:cNvSpPr txBox="1"/>
          <p:nvPr/>
        </p:nvSpPr>
        <p:spPr>
          <a:xfrm>
            <a:off x="457200" y="1189038"/>
            <a:ext cx="11277600" cy="457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2000">
                <a:solidFill>
                  <a:srgbClr val="E0E1DD"/>
                </a:solidFill>
                <a:latin typeface="Segoe UI"/>
              </a:rPr>
              <a:t>ClaudeSlide leverages Claude's exceptional XML understanding capabilities</a:t>
            </a:r>
          </a:p>
        </p:txBody>
      </p:sp>
      <!-- Main content box -->
      <p:sp>
        <p:nvSpPr>
          <p:cNvPr id="5" name="MainBox"/>
          <p:cNvSpPr/>
          <p:nvPr/>
        </p:nvSpPr>
        <p:spPr>
          <a:xfrm>
            <a:off x="457200" y="1800000"/>
            <a:ext cx="5600000" cy="2400000"/>
          </a:xfrm>
          <a:prstGeom prst="roundRect">
            <a:avLst>
              <a:gd name="adj" fmla="val 5000"/>
            </a:avLst>
          </a:prstGeom>
          <a:solidFill>
            <a:srgbClr val="1B263B">
              <a:alpha val="60000"/>
            </a:srgbClr>
          </a:solidFill>
          <a:ln w="28575">
            <a:solidFill>
              <a:srgbClr val="00D4FF"/>
            </a:solidFill>
          </a:ln>
        </p:spPr>
        <p:txBody>
          <a:bodyPr anchor="ctr" lIns="274320" rIns="274320" tIns="182880" bIns="182880"/>
          <a:lstStyle/>
          <a:p>
            <a:pPr algn="ctr"/>
            <a:r>
              <a:rPr lang="en-US" sz="2800" b="1">
                <a:solidFill>
                  <a:srgbClr val="00D4FF"/>
                </a:solidFill>
                <a:latin typeface="Segoe UI Light"/>
              </a:rPr>
              <a:t>PowerPoint = XML</a:t>
            </a:r>
          </a:p>
          <a:p>
            <a:pPr algn="ctr"/>
            <a:endParaRPr lang="en-US" sz="800"/>
          </a:p>
          <a:p>
            <a:pPr algn="ctr"/>
            <a:r>
              <a:rPr lang="en-US" sz="1800">
                <a:solidFill>
                  <a:srgbClr val="E0E1DD"/>
                </a:solidFill>
                <a:latin typeface="Segoe UI"/>
              </a:rPr>
              <a:t>PPTX files are ZIP archives containing XML files in Office Open XML (OOXML) format</a:t>
            </a:r>
          </a:p>
        </p:txBody>
      </p:sp>
      <!-- Plus sign -->
      <p:sp>
        <p:nvSpPr>
          <p:cNvPr id="6" name="Plus"/>
          <p:cNvSpPr txBox="1"/>
          <p:nvPr/>
        </p:nvSpPr>
        <p:spPr>
          <a:xfrm>
            <a:off x="6100000" y="2600000"/>
            <a:ext cx="500000" cy="6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4000" b="1">
                <a:solidFill>
                  <a:srgbClr val="7B2CBF"/>
                </a:solidFill>
                <a:latin typeface="Segoe UI"/>
              </a:rPr>
              <a:t>+</a:t>
            </a:r>
          </a:p>
        </p:txBody>
      </p:sp>
      <!-- Claude box -->
      <p:sp>
        <p:nvSpPr>
          <p:cNvPr id="7" name="ClaudeBox"/>
          <p:cNvSpPr/>
          <p:nvPr/>
        </p:nvSpPr>
        <p:spPr>
          <a:xfrm>
            <a:off x="6600000" y="1800000"/>
            <a:ext cx="5200000" cy="2400000"/>
          </a:xfrm>
          <a:prstGeom prst="roundRect">
            <a:avLst>
              <a:gd name="adj" fmla="val 5000"/>
            </a:avLst>
          </a:prstGeom>
          <a:solidFill>
            <a:srgbClr val="1B263B">
              <a:alpha val="60000"/>
            </a:srgbClr>
          </a:solidFill>
          <a:ln w="28575">
            <a:solidFill>
              <a:srgbClr val="7B2CBF"/>
            </a:solidFill>
          </a:ln>
        </p:spPr>
        <p:txBody>
          <a:bodyPr anchor="ctr" lIns="274320" rIns="274320" tIns="182880" bIns="182880"/>
          <a:lstStyle/>
          <a:p>
            <a:pPr algn="ctr"/>
            <a:r>
              <a:rPr lang="en-US" sz="2800" b="1">
                <a:solidFill>
                  <a:srgbClr val="7B2CBF"/>
                </a:solidFill>
                <a:latin typeface="Segoe UI Light"/>
              </a:rPr>
              <a:t>Claude Opus 4.5</a:t>
            </a:r>
          </a:p>
          <a:p>
            <a:pPr algn="ctr"/>
            <a:endParaRPr lang="en-US" sz="800"/>
          </a:p>
          <a:p>
            <a:pPr algn="ctr"/>
            <a:r>
              <a:rPr lang="en-US" sz="1800">
                <a:solidFill>
                  <a:srgbClr val="E0E1DD"/>
                </a:solidFill>
                <a:latin typeface="Segoe UI"/>
              </a:rPr>
              <a:t>Exceptional ability to understand, parse, and generate compliant XML structures</a:t>
            </a:r>
          </a:p>
        </p:txBody>
      </p:sp>
      <!-- Arrow down -->
      <p:sp>
        <p:nvSpPr>
          <p:cNvPr id="8" name="Arrow"/>
          <p:cNvSpPr/>
          <p:nvPr/>
        </p:nvSpPr>
        <p:spPr>
          <a:xfrm>
            <a:off x="5696000" y="4400000"/>
            <a:ext cx="800000" cy="500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Result box -->
      <p:sp>
        <p:nvSpPr>
          <p:cNvPr id="9" name="ResultBox"/>
          <p:cNvSpPr/>
          <p:nvPr/>
        </p:nvSpPr>
        <p:spPr>
          <a:xfrm>
            <a:off x="2500000" y="5100000"/>
            <a:ext cx="7192000" cy="1200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0D4FF">
                  <a:alpha val="30000"/>
                </a:srgbClr>
              </a:gs>
              <a:gs pos="100000">
                <a:srgbClr val="7B2CBF">
                  <a:alpha val="30000"/>
                </a:srgbClr>
              </a:gs>
            </a:gsLst>
            <a:lin ang="0" scaled="0"/>
          </a:gradFill>
          <a:ln w="28575">
            <a:gradFill>
              <a:gsLst>
                <a:gs pos="0">
                  <a:srgbClr val="00D4FF"/>
                </a:gs>
                <a:gs pos="100000">
                  <a:srgbClr val="7B2CBF"/>
                </a:gs>
              </a:gsLst>
              <a:lin ang="0" scaled="0"/>
            </a:gradFill>
          </a:ln>
        </p:spPr>
        <p:txBody>
          <a:bodyPr anchor="ctr" lIns="274320" rIns="27432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Segoe UI Light"/>
              </a:rPr>
              <a:t>ClaudeSlide: Direct PowerPoint Editing via Natural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00D4FF"/>
                </a:solidFill>
                <a:latin typeface="Segoe UI Light"/>
              </a:rPr>
              <a:t>How It Works</a:t>
            </a:r>
          </a:p>
        </p:txBody>
      </p:sp>
      <!-- Architecture diagram using shapes -->
      <!-- Step 1: PPTX -->
      <p:sp>
        <p:nvSpPr>
          <p:cNvPr id="4" name="Step1"/>
          <p:cNvSpPr/>
          <p:nvPr/>
        </p:nvSpPr>
        <p:spPr>
          <a:xfrm>
            <a:off x="400000" y="1600000"/>
            <a:ext cx="1800000" cy="11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25400">
            <a:solidFill>
              <a:srgbClr val="00D4FF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0D4FF"/>
                </a:solidFill>
                <a:latin typeface="Segoe UI"/>
              </a:rPr>
              <a:t>1. Initialize</a:t>
            </a:r>
          </a:p>
          <a:p>
            <a:pPr algn="ctr"/>
            <a:r>
              <a:rPr lang="en-US" sz="1200">
                <a:solidFill>
                  <a:srgbClr val="E0E1DD"/>
                </a:solidFill>
                <a:latin typeface="Consolas"/>
              </a:rPr>
              <a:t>npx claudeslide init template.pptx</a:t>
            </a:r>
          </a:p>
        </p:txBody>
      </p:sp>
      <!-- Arrow 1 -->
      <p:sp>
        <p:nvSpPr>
          <p:cNvPr id="5" name="Arrow1"/>
          <p:cNvSpPr/>
          <p:nvPr/>
        </p:nvSpPr>
        <p:spPr>
          <a:xfrm>
            <a:off x="2300000" y="2000000"/>
            <a:ext cx="6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4FF"/>
          </a:solidFill>
        </p:spPr>
        <p:txBody>
          <a:bodyPr/>
          <a:lstStyle/>
          <a:p>
            <a:endParaRPr lang="en-US"/>
          </a:p>
        </p:txBody>
      </p:sp>
      <!-- Step 2: Extract -->
      <p:sp>
        <p:nvSpPr>
          <p:cNvPr id="6" name="Step2"/>
          <p:cNvSpPr/>
          <p:nvPr/>
        </p:nvSpPr>
        <p:spPr>
          <a:xfrm>
            <a:off x="3000000" y="1600000"/>
            <a:ext cx="1800000" cy="11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25400">
            <a:solidFill>
              <a:srgbClr val="7B2CBF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7B2CBF"/>
                </a:solidFill>
                <a:latin typeface="Segoe UI"/>
              </a:rPr>
              <a:t>2. Extract</a:t>
            </a:r>
          </a:p>
          <a:p>
            <a:pPr algn="ctr"/>
            <a:r>
              <a:rPr lang="en-US" sz="1200">
                <a:solidFill>
                  <a:srgbClr val="E0E1DD"/>
                </a:solidFill>
                <a:latin typeface="Segoe UI"/>
              </a:rPr>
              <a:t>PPTX unzipped to XML files in work/</a:t>
            </a:r>
          </a:p>
        </p:txBody>
      </p:sp>
      <!-- Arrow 2 -->
      <p:sp>
        <p:nvSpPr>
          <p:cNvPr id="7" name="Arrow2"/>
          <p:cNvSpPr/>
          <p:nvPr/>
        </p:nvSpPr>
        <p:spPr>
          <a:xfrm>
            <a:off x="4900000" y="2000000"/>
            <a:ext cx="6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B2CBF"/>
          </a:solidFill>
        </p:spPr>
        <p:txBody>
          <a:bodyPr/>
          <a:lstStyle/>
          <a:p>
            <a:endParaRPr lang="en-US"/>
          </a:p>
        </p:txBody>
      </p:sp>
      <!-- Step 3: Context -->
      <p:sp>
        <p:nvSpPr>
          <p:cNvPr id="8" name="Step3"/>
          <p:cNvSpPr/>
          <p:nvPr/>
        </p:nvSpPr>
        <p:spPr>
          <a:xfrm>
            <a:off x="5600000" y="1600000"/>
            <a:ext cx="1800000" cy="11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25400">
            <a:solidFill>
              <a:srgbClr val="E63946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E63946"/>
                </a:solidFill>
                <a:latin typeface="Segoe UI"/>
              </a:rPr>
              <a:t>3. Generate</a:t>
            </a:r>
          </a:p>
          <a:p>
            <a:pPr algn="ctr"/>
            <a:r>
              <a:rPr lang="en-US" sz="1200">
                <a:solidFill>
                  <a:srgbClr val="E0E1DD"/>
                </a:solidFill>
                <a:latin typeface="Segoe UI"/>
              </a:rPr>
              <a:t>CLAUDE.md context + OOXML reference</a:t>
            </a:r>
          </a:p>
        </p:txBody>
      </p:sp>
      <!-- Arrow 3 -->
      <p:sp>
        <p:nvSpPr>
          <p:cNvPr id="9" name="Arrow3"/>
          <p:cNvSpPr/>
          <p:nvPr/>
        </p:nvSpPr>
        <p:spPr>
          <a:xfrm>
            <a:off x="7500000" y="2000000"/>
            <a:ext cx="6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3946"/>
          </a:solidFill>
        </p:spPr>
        <p:txBody>
          <a:bodyPr/>
          <a:lstStyle/>
          <a:p>
            <a:endParaRPr lang="en-US"/>
          </a:p>
        </p:txBody>
      </p:sp>
      <!-- Step 4: Git -->
      <p:sp>
        <p:nvSpPr>
          <p:cNvPr id="10" name="Step4"/>
          <p:cNvSpPr/>
          <p:nvPr/>
        </p:nvSpPr>
        <p:spPr>
          <a:xfrm>
            <a:off x="8200000" y="1600000"/>
            <a:ext cx="1800000" cy="11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25400">
            <a:solidFill>
              <a:srgbClr val="2EC4B6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2EC4B6"/>
                </a:solidFill>
                <a:latin typeface="Segoe UI"/>
              </a:rPr>
              <a:t>4. Git Init</a:t>
            </a:r>
          </a:p>
          <a:p>
            <a:pPr algn="ctr"/>
            <a:r>
              <a:rPr lang="en-US" sz="1200">
                <a:solidFill>
                  <a:srgbClr val="E0E1DD"/>
                </a:solidFill>
                <a:latin typeface="Segoe UI"/>
              </a:rPr>
              <a:t>Version control enabled</a:t>
            </a:r>
          </a:p>
        </p:txBody>
      </p:sp>
      <!-- Arrow down -->
      <p:sp>
        <p:nvSpPr>
          <p:cNvPr id="11" name="ArrowDown"/>
          <p:cNvSpPr/>
          <p:nvPr/>
        </p:nvSpPr>
        <p:spPr>
          <a:xfrm>
            <a:off x="8950000" y="2850000"/>
            <a:ext cx="3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C4B6"/>
          </a:solidFill>
        </p:spPr>
        <p:txBody>
          <a:bodyPr/>
          <a:lstStyle/>
          <a:p>
            <a:endParaRPr lang="en-US"/>
          </a:p>
        </p:txBody>
      </p:sp>
      <!-- Claude Code section -->
      <p:sp>
        <p:nvSpPr>
          <p:cNvPr id="12" name="ClaudeCode"/>
          <p:cNvSpPr/>
          <p:nvPr/>
        </p:nvSpPr>
        <p:spPr>
          <a:xfrm>
            <a:off x="5600000" y="3500000"/>
            <a:ext cx="4400000" cy="14000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D4FF">
                  <a:alpha val="20000"/>
                </a:srgbClr>
              </a:gs>
              <a:gs pos="100000">
                <a:srgbClr val="7B2CBF">
                  <a:alpha val="20000"/>
                </a:srgbClr>
              </a:gs>
            </a:gsLst>
            <a:lin ang="0" scaled="0"/>
          </a:gradFill>
          <a:ln w="38100">
            <a:gradFill>
              <a:gsLst>
                <a:gs pos="0">
                  <a:srgbClr val="00D4FF"/>
                </a:gs>
                <a:gs pos="100000">
                  <a:srgbClr val="7B2CBF"/>
                </a:gs>
              </a:gsLst>
              <a:lin ang="0" scaled="0"/>
            </a:gradFill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Segoe UI"/>
              </a:rPr>
              <a:t>5. Edit with Claude Code</a:t>
            </a:r>
          </a:p>
          <a:p>
            <a:pPr algn="ctr"/>
            <a:r>
              <a:rPr lang="en-US" sz="1600">
                <a:solidFill>
                  <a:srgbClr val="E0E1DD"/>
                </a:solidFill>
                <a:latin typeface="Segoe UI"/>
              </a:rPr>
              <a:t>Natural language commands to edit XML</a:t>
            </a:r>
          </a:p>
        </p:txBody>
      </p:sp>
      <!-- Arrow left -->
      <p:sp>
        <p:nvSpPr>
          <p:cNvPr id="13" name="ArrowLeft"/>
          <p:cNvSpPr/>
          <p:nvPr/>
        </p:nvSpPr>
        <p:spPr>
          <a:xfrm>
            <a:off x="4900000" y="4050000"/>
            <a:ext cx="600000" cy="300000"/>
          </a:xfrm>
          <a:prstGeom prst="lef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B2CBF"/>
              </a:gs>
              <a:gs pos="100000">
                <a:srgbClr val="00D4FF"/>
              </a:gs>
            </a:gsLst>
            <a:lin ang="0" scaled="0"/>
          </a:gradFill>
        </p:spPr>
        <p:txBody>
          <a:bodyPr/>
          <a:lstStyle/>
          <a:p>
            <a:endParaRPr lang="en-US"/>
          </a:p>
        </p:txBody>
      </p:sp>
      <!-- Workflow box -->
      <p:sp>
        <p:nvSpPr>
          <p:cNvPr id="14" name="Workflow"/>
          <p:cNvSpPr/>
          <p:nvPr/>
        </p:nvSpPr>
        <p:spPr>
          <a:xfrm>
            <a:off x="400000" y="3200000"/>
            <a:ext cx="4400000" cy="2000000"/>
          </a:xfrm>
          <a:prstGeom prst="roundRect">
            <a:avLst>
              <a:gd name="adj" fmla="val 5000"/>
            </a:avLst>
          </a:prstGeom>
          <a:solidFill>
            <a:srgbClr val="1B263B">
              <a:alpha val="70000"/>
            </a:srgbClr>
          </a:solidFill>
          <a:ln w="19050">
            <a:solidFill>
              <a:srgbClr val="4ECDC4"/>
            </a:solidFill>
          </a:ln>
        </p:spPr>
        <p:txBody>
          <a:bodyPr anchor="t" lIns="182880" rIns="182880" tIns="182880" bIns="182880"/>
          <a:lstStyle/>
          <a:p>
            <a:pPr algn="ctr"/>
            <a:r>
              <a:rPr lang="en-US" sz="1600" b="1">
                <a:solidFill>
                  <a:srgbClr val="4ECDC4"/>
                </a:solidFill>
                <a:latin typeface="Segoe UI"/>
              </a:rPr>
              <a:t>6. Quality Workflow</a:t>
            </a:r>
          </a:p>
          <a:p>
            <a:r>
              <a:rPr lang="en-US" sz="1400">
                <a:solidFill>
                  <a:srgbClr val="00D4FF"/>
                </a:solidFill>
                <a:latin typeface="Consolas"/>
              </a:rPr>
              <a:t>npm run validate</a:t>
            </a:r>
            <a:r>
              <a:rPr lang="en-US" sz="1400">
                <a:solidFill>
                  <a:srgbClr val="E0E1DD"/>
                </a:solidFill>
                <a:latin typeface="Segoe UI"/>
              </a:rPr>
              <a:t>  Check XML</a:t>
            </a:r>
          </a:p>
          <a:p>
            <a:r>
              <a:rPr lang="en-US" sz="1400">
                <a:solidFill>
                  <a:srgbClr val="7B2CBF"/>
                </a:solidFill>
                <a:latin typeface="Consolas"/>
              </a:rPr>
              <a:t>npm run preview</a:t>
            </a:r>
            <a:r>
              <a:rPr lang="en-US" sz="1400">
                <a:solidFill>
                  <a:srgbClr val="E0E1DD"/>
                </a:solidFill>
                <a:latin typeface="Segoe UI"/>
              </a:rPr>
              <a:t>  Visual review</a:t>
            </a:r>
          </a:p>
          <a:p>
            <a:r>
              <a:rPr lang="en-US" sz="1400">
                <a:solidFill>
                  <a:srgbClr val="2EC4B6"/>
                </a:solidFill>
                <a:latin typeface="Consolas"/>
              </a:rPr>
              <a:t>npm run save</a:t>
            </a:r>
            <a:r>
              <a:rPr lang="en-US" sz="1400">
                <a:solidFill>
                  <a:srgbClr val="E0E1DD"/>
                </a:solidFill>
                <a:latin typeface="Segoe UI"/>
              </a:rPr>
              <a:t>  Create PPTX</a:t>
            </a:r>
          </a:p>
        </p:txBody>
      </p:sp>
      <!-- Output -->
      <p:sp>
        <p:nvSpPr>
          <p:cNvPr id="15" name="Output"/>
          <p:cNvSpPr/>
          <p:nvPr/>
        </p:nvSpPr>
        <p:spPr>
          <a:xfrm>
            <a:off x="5600000" y="5200000"/>
            <a:ext cx="4400000" cy="800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</p:spPr>
        <p:txBody>
          <a:bodyPr anchor="ctr"/>
          <a:lstStyle/>
          <a:p>
            <a:pPr algn="ctr"/>
            <a:r>
              <a:rPr lang="en-US" sz="2000" b="1">
                <a:solidFill>
                  <a:srgbClr val="0D1B2A"/>
                </a:solidFill>
                <a:latin typeface="Segoe UI"/>
              </a:rPr>
              <a:t>7. Output: Updated 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7B2CBF"/>
                </a:solidFill>
                <a:latin typeface="Segoe UI Light"/>
              </a:rPr>
              <a:t>Key Features</a:t>
            </a:r>
          </a:p>
        </p:txBody>
      </p:sp>
      <!-- Feature 1 -->
      <p:sp>
        <p:nvSpPr>
          <p:cNvPr id="4" name="Feature1"/>
          <p:cNvSpPr/>
          <p:nvPr/>
        </p:nvSpPr>
        <p:spPr>
          <a:xfrm>
            <a:off x="457200" y="15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00D4FF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00D4FF"/>
                </a:solidFill>
                <a:latin typeface="Segoe UI"/>
              </a:rPr>
              <a:t>📄</a:t>
            </a:r>
          </a:p>
          <a:p>
            <a:pPr algn="ctr"/>
            <a:r>
              <a:rPr lang="en-US" sz="2000" b="1">
                <a:solidFill>
                  <a:srgbClr val="00D4FF"/>
                </a:solidFill>
                <a:latin typeface="Segoe UI"/>
              </a:rPr>
              <a:t>Template Preservation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Keep your corporate branding, slide masters, themes, and layouts intact</a:t>
            </a:r>
          </a:p>
        </p:txBody>
      </p:sp>
      <!-- Feature 2 -->
      <p:sp>
        <p:nvSpPr>
          <p:cNvPr id="5" name="Feature2"/>
          <p:cNvSpPr/>
          <p:nvPr/>
        </p:nvSpPr>
        <p:spPr>
          <a:xfrm>
            <a:off x="4296000" y="15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7B2CBF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7B2CBF"/>
                </a:solidFill>
                <a:latin typeface="Segoe UI"/>
              </a:rPr>
              <a:t>💬</a:t>
            </a:r>
          </a:p>
          <a:p>
            <a:pPr algn="ctr"/>
            <a:r>
              <a:rPr lang="en-US" sz="2000" b="1">
                <a:solidFill>
                  <a:srgbClr val="7B2CBF"/>
                </a:solidFill>
                <a:latin typeface="Segoe UI"/>
              </a:rPr>
              <a:t>Natural Language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Just describe what you want: "Change the title on slide 3 to Q4 Report"</a:t>
            </a:r>
          </a:p>
        </p:txBody>
      </p:sp>
      <!-- Feature 3 -->
      <p:sp>
        <p:nvSpPr>
          <p:cNvPr id="6" name="Feature3"/>
          <p:cNvSpPr/>
          <p:nvPr/>
        </p:nvSpPr>
        <p:spPr>
          <a:xfrm>
            <a:off x="8134800" y="15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E63946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E63946"/>
                </a:solidFill>
                <a:latin typeface="Segoe UI"/>
              </a:rPr>
              <a:t>🔧</a:t>
            </a:r>
          </a:p>
          <a:p>
            <a:pPr algn="ctr"/>
            <a:r>
              <a:rPr lang="en-US" sz="2000" b="1">
                <a:solidFill>
                  <a:srgbClr val="E63946"/>
                </a:solidFill>
                <a:latin typeface="Segoe UI"/>
              </a:rPr>
              <a:t>Granular Control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Edit specific slides, text, shapes, or styles without affecting others</a:t>
            </a:r>
          </a:p>
        </p:txBody>
      </p:sp>
      <!-- Feature 4 -->
      <p:sp>
        <p:nvSpPr>
          <p:cNvPr id="7" name="Feature4"/>
          <p:cNvSpPr/>
          <p:nvPr/>
        </p:nvSpPr>
        <p:spPr>
          <a:xfrm>
            <a:off x="457200" y="39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2EC4B6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2EC4B6"/>
                </a:solidFill>
                <a:latin typeface="Segoe UI"/>
              </a:rPr>
              <a:t>📊</a:t>
            </a:r>
          </a:p>
          <a:p>
            <a:pPr algn="ctr"/>
            <a:r>
              <a:rPr lang="en-US" sz="2000" b="1">
                <a:solidFill>
                  <a:srgbClr val="2EC4B6"/>
                </a:solidFill>
                <a:latin typeface="Segoe UI"/>
              </a:rPr>
              <a:t>Git Version Control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Track changes, compare versions, and collaborate using standard Git workflows</a:t>
            </a:r>
          </a:p>
        </p:txBody>
      </p:sp>
      <!-- Feature 5 -->
      <p:sp>
        <p:nvSpPr>
          <p:cNvPr id="8" name="Feature5"/>
          <p:cNvSpPr/>
          <p:nvPr/>
        </p:nvSpPr>
        <p:spPr>
          <a:xfrm>
            <a:off x="4296000" y="39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4ECDC4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4ECDC4"/>
                </a:solidFill>
                <a:latin typeface="Segoe UI"/>
              </a:rPr>
              <a:t>🎨</a:t>
            </a:r>
          </a:p>
          <a:p>
            <a:pPr algn="ctr"/>
            <a:r>
              <a:rPr lang="en-US" sz="2000" b="1">
                <a:solidFill>
                  <a:srgbClr val="4ECDC4"/>
                </a:solidFill>
                <a:latin typeface="Segoe UI"/>
              </a:rPr>
              <a:t>SVG Graphics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Generate charts, diagrams, and custom graphics directly in presentations</a:t>
            </a:r>
          </a:p>
        </p:txBody>
      </p:sp>
      <!-- Feature 6 -->
      <p:sp>
        <p:nvSpPr>
          <p:cNvPr id="9" name="Feature6"/>
          <p:cNvSpPr/>
          <p:nvPr/>
        </p:nvSpPr>
        <p:spPr>
          <a:xfrm>
            <a:off x="8134800" y="3900000"/>
            <a:ext cx="3600000" cy="22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FF6B6B"/>
            </a:solidFill>
          </a:ln>
        </p:spPr>
        <p:txBody>
          <a:bodyPr anchor="t" lIns="228600" rIns="228600" tIns="228600" bIns="182880"/>
          <a:lstStyle/>
          <a:p>
            <a:pPr algn="ctr"/>
            <a:r>
              <a:rPr lang="en-US" sz="4000" b="1">
                <a:solidFill>
                  <a:srgbClr val="FF6B6B"/>
                </a:solidFill>
                <a:latin typeface="Segoe UI"/>
              </a:rPr>
              <a:t>✅</a:t>
            </a:r>
          </a:p>
          <a:p>
            <a:pPr algn="ctr"/>
            <a:r>
              <a:rPr lang="en-US" sz="2000" b="1">
                <a:solidFill>
                  <a:srgbClr val="FF6B6B"/>
                </a:solidFill>
                <a:latin typeface="Segoe UI"/>
              </a:rPr>
              <a:t>Quality Assurance</a:t>
            </a:r>
          </a:p>
          <a:p>
            <a:pPr algn="ctr"/>
            <a:r>
              <a:rPr lang="en-US" sz="1400">
                <a:solidFill>
                  <a:srgbClr val="E0E1DD"/>
                </a:solidFill>
                <a:latin typeface="Segoe UI"/>
              </a:rPr>
              <a:t>Built-in validation and preview ensure your presentation is always valid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E63946"/>
                </a:solidFill>
                <a:latin typeface="Segoe UI Light"/>
              </a:rPr>
              <a:t>Comparison</a:t>
            </a:r>
          </a:p>
        </p:txBody>
      </p:sp>
      <!-- Subtitle -->
      <p:sp>
        <p:nvSpPr>
          <p:cNvPr id="4" name="Subtitle"/>
          <p:cNvSpPr txBox="1"/>
          <p:nvPr/>
        </p:nvSpPr>
        <p:spPr>
          <a:xfrm>
            <a:off x="457200" y="1189038"/>
            <a:ext cx="11277600" cy="457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2000">
                <a:solidFill>
                  <a:srgbClr val="E0E1DD"/>
                </a:solidFill>
                <a:latin typeface="Segoe UI"/>
              </a:rPr>
              <a:t>ClaudeSlide vs Gemini 3.0 / Nano Banana Pro</a:t>
            </a:r>
          </a:p>
        </p:txBody>
      </p:sp>
      <!-- Table Header Row -->
      <p:sp>
        <p:nvSpPr>
          <p:cNvPr id="5" name="HeaderFeature"/>
          <p:cNvSpPr/>
          <p:nvPr/>
        </p:nvSpPr>
        <p:spPr>
          <a:xfrm>
            <a:off x="457200" y="1800000"/>
            <a:ext cx="3500000" cy="500000"/>
          </a:xfrm>
          <a:prstGeom prst="rect">
            <a:avLst/>
          </a:prstGeom>
          <a:solidFill>
            <a:srgbClr val="1B263B"/>
          </a:solidFill>
          <a:ln w="19050">
            <a:solidFill>
              <a:srgbClr val="7B2CBF"/>
            </a:solidFill>
          </a:ln>
        </p:spPr>
        <p:txBody>
          <a:bodyPr anchor="ctr" lIns="182880"/>
          <a:lstStyle/>
          <a:p>
            <a:r>
              <a:rPr lang="en-US" sz="1600" b="1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6" name="HeaderGemini"/>
          <p:cNvSpPr/>
          <p:nvPr/>
        </p:nvSpPr>
        <p:spPr>
          <a:xfrm>
            <a:off x="3957200" y="1800000"/>
            <a:ext cx="3500000" cy="500000"/>
          </a:xfrm>
          <a:prstGeom prst="rect">
            <a:avLst/>
          </a:prstGeom>
          <a:solidFill>
            <a:srgbClr val="E63946">
              <a:alpha val="30000"/>
            </a:srgbClr>
          </a:solidFill>
          <a:ln w="19050">
            <a:solidFill>
              <a:srgbClr val="E63946"/>
            </a:solidFill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E63946"/>
                </a:solidFill>
                <a:latin typeface="Segoe UI"/>
              </a:rPr>
              <a:t>Gemini / Nano Banana</a:t>
            </a:r>
          </a:p>
        </p:txBody>
      </p:sp>
      <p:sp>
        <p:nvSpPr>
          <p:cNvPr id="7" name="HeaderClaudeSlide"/>
          <p:cNvSpPr/>
          <p:nvPr/>
        </p:nvSpPr>
        <p:spPr>
          <a:xfrm>
            <a:off x="7457200" y="1800000"/>
            <a:ext cx="4277600" cy="500000"/>
          </a:xfrm>
          <a:prstGeom prst="rect">
            <a:avLst/>
          </a:prstGeom>
          <a:solidFill>
            <a:srgbClr val="00D4FF">
              <a:alpha val="30000"/>
            </a:srgbClr>
          </a:solidFill>
          <a:ln w="19050">
            <a:solidFill>
              <a:srgbClr val="00D4FF"/>
            </a:solidFill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00D4FF"/>
                </a:solidFill>
                <a:latin typeface="Segoe UI"/>
              </a:rPr>
              <a:t>ClaudeSlide</a:t>
            </a:r>
          </a:p>
        </p:txBody>
      </p:sp>
      <!-- Row 1: Templates -->
      <p:sp>
        <p:nvSpPr>
          <p:cNvPr id="8" name="Row1F"/>
          <p:cNvSpPr/>
          <p:nvPr/>
        </p:nvSpPr>
        <p:spPr>
          <a:xfrm>
            <a:off x="457200" y="23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Existing Template Support</a:t>
            </a:r>
          </a:p>
        </p:txBody>
      </p:sp>
      <p:sp>
        <p:nvSpPr>
          <p:cNvPr id="9" name="Row1G"/>
          <p:cNvSpPr/>
          <p:nvPr/>
        </p:nvSpPr>
        <p:spPr>
          <a:xfrm>
            <a:off x="3957200" y="23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❌ No</a:t>
            </a:r>
          </a:p>
        </p:txBody>
      </p:sp>
      <p:sp>
        <p:nvSpPr>
          <p:cNvPr id="10" name="Row1C"/>
          <p:cNvSpPr/>
          <p:nvPr/>
        </p:nvSpPr>
        <p:spPr>
          <a:xfrm>
            <a:off x="7457200" y="2300000"/>
            <a:ext cx="42776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Yes</a:t>
            </a:r>
          </a:p>
        </p:txBody>
      </p:sp>
      <!-- Row 2: Slide Masters -->
      <p:sp>
        <p:nvSpPr>
          <p:cNvPr id="11" name="Row2F"/>
          <p:cNvSpPr/>
          <p:nvPr/>
        </p:nvSpPr>
        <p:spPr>
          <a:xfrm>
            <a:off x="457200" y="27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Slide Masters / Layouts</a:t>
            </a:r>
          </a:p>
        </p:txBody>
      </p:sp>
      <p:sp>
        <p:nvSpPr>
          <p:cNvPr id="12" name="Row2G"/>
          <p:cNvSpPr/>
          <p:nvPr/>
        </p:nvSpPr>
        <p:spPr>
          <a:xfrm>
            <a:off x="3957200" y="27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❌ Lost</a:t>
            </a:r>
          </a:p>
        </p:txBody>
      </p:sp>
      <p:sp>
        <p:nvSpPr>
          <p:cNvPr id="13" name="Row2C"/>
          <p:cNvSpPr/>
          <p:nvPr/>
        </p:nvSpPr>
        <p:spPr>
          <a:xfrm>
            <a:off x="7457200" y="2750000"/>
            <a:ext cx="42776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Preserved</a:t>
            </a:r>
          </a:p>
        </p:txBody>
      </p:sp>
      <!-- Row 3: Animations -->
      <p:sp>
        <p:nvSpPr>
          <p:cNvPr id="14" name="Row3F"/>
          <p:cNvSpPr/>
          <p:nvPr/>
        </p:nvSpPr>
        <p:spPr>
          <a:xfrm>
            <a:off x="457200" y="32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Animations / Transitions</a:t>
            </a:r>
          </a:p>
        </p:txBody>
      </p:sp>
      <p:sp>
        <p:nvSpPr>
          <p:cNvPr id="15" name="Row3G"/>
          <p:cNvSpPr/>
          <p:nvPr/>
        </p:nvSpPr>
        <p:spPr>
          <a:xfrm>
            <a:off x="3957200" y="32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❌ Not Supported</a:t>
            </a:r>
          </a:p>
        </p:txBody>
      </p:sp>
      <p:sp>
        <p:nvSpPr>
          <p:cNvPr id="16" name="Row3C"/>
          <p:cNvSpPr/>
          <p:nvPr/>
        </p:nvSpPr>
        <p:spPr>
          <a:xfrm>
            <a:off x="7457200" y="3200000"/>
            <a:ext cx="42776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Editable</a:t>
            </a:r>
          </a:p>
        </p:txBody>
      </p:sp>
      <!-- Row 4: Partial edits -->
      <p:sp>
        <p:nvSpPr>
          <p:cNvPr id="17" name="Row4F"/>
          <p:cNvSpPr/>
          <p:nvPr/>
        </p:nvSpPr>
        <p:spPr>
          <a:xfrm>
            <a:off x="457200" y="36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Partial / Targeted Edits</a:t>
            </a:r>
          </a:p>
        </p:txBody>
      </p:sp>
      <p:sp>
        <p:nvSpPr>
          <p:cNvPr id="18" name="Row4G"/>
          <p:cNvSpPr/>
          <p:nvPr/>
        </p:nvSpPr>
        <p:spPr>
          <a:xfrm>
            <a:off x="3957200" y="36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❌ Difficult</a:t>
            </a:r>
          </a:p>
        </p:txBody>
      </p:sp>
      <p:sp>
        <p:nvSpPr>
          <p:cNvPr id="19" name="Row4C"/>
          <p:cNvSpPr/>
          <p:nvPr/>
        </p:nvSpPr>
        <p:spPr>
          <a:xfrm>
            <a:off x="7457200" y="3650000"/>
            <a:ext cx="42776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Easy</a:t>
            </a:r>
          </a:p>
        </p:txBody>
      </p:sp>
      <!-- Row 5: Version Control -->
      <p:sp>
        <p:nvSpPr>
          <p:cNvPr id="20" name="Row5F"/>
          <p:cNvSpPr/>
          <p:nvPr/>
        </p:nvSpPr>
        <p:spPr>
          <a:xfrm>
            <a:off x="457200" y="41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Git Version Control</a:t>
            </a:r>
          </a:p>
        </p:txBody>
      </p:sp>
      <p:sp>
        <p:nvSpPr>
          <p:cNvPr id="21" name="Row5G"/>
          <p:cNvSpPr/>
          <p:nvPr/>
        </p:nvSpPr>
        <p:spPr>
          <a:xfrm>
            <a:off x="3957200" y="4100000"/>
            <a:ext cx="35000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❌ No</a:t>
            </a:r>
          </a:p>
        </p:txBody>
      </p:sp>
      <p:sp>
        <p:nvSpPr>
          <p:cNvPr id="22" name="Row5C"/>
          <p:cNvSpPr/>
          <p:nvPr/>
        </p:nvSpPr>
        <p:spPr>
          <a:xfrm>
            <a:off x="7457200" y="4100000"/>
            <a:ext cx="4277600" cy="450000"/>
          </a:xfrm>
          <a:prstGeom prst="rect">
            <a:avLst/>
          </a:prstGeom>
          <a:solidFill>
            <a:srgbClr val="0D1B2A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Full Support</a:t>
            </a:r>
          </a:p>
        </p:txBody>
      </p:sp>
      <!-- Row 6: From scratch -->
      <p:sp>
        <p:nvSpPr>
          <p:cNvPr id="23" name="Row6F"/>
          <p:cNvSpPr/>
          <p:nvPr/>
        </p:nvSpPr>
        <p:spPr>
          <a:xfrm>
            <a:off x="457200" y="45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 lIns="182880"/>
          <a:lstStyle/>
          <a:p>
            <a:r>
              <a:rPr lang="en-US" sz="1400">
                <a:solidFill>
                  <a:srgbClr val="E0E1DD"/>
                </a:solidFill>
                <a:latin typeface="Segoe UI"/>
              </a:rPr>
              <a:t>Create from Scratch</a:t>
            </a:r>
          </a:p>
        </p:txBody>
      </p:sp>
      <p:sp>
        <p:nvSpPr>
          <p:cNvPr id="24" name="Row6G"/>
          <p:cNvSpPr/>
          <p:nvPr/>
        </p:nvSpPr>
        <p:spPr>
          <a:xfrm>
            <a:off x="3957200" y="4550000"/>
            <a:ext cx="35000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✅ Excellent</a:t>
            </a:r>
          </a:p>
        </p:txBody>
      </p:sp>
      <p:sp>
        <p:nvSpPr>
          <p:cNvPr id="25" name="Row6C"/>
          <p:cNvSpPr/>
          <p:nvPr/>
        </p:nvSpPr>
        <p:spPr>
          <a:xfrm>
            <a:off x="7457200" y="4550000"/>
            <a:ext cx="4277600" cy="450000"/>
          </a:xfrm>
          <a:prstGeom prst="rect">
            <a:avLst/>
          </a:prstGeom>
          <a:solidFill>
            <a:srgbClr val="1B263B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6B6B"/>
                </a:solidFill>
                <a:latin typeface="Segoe UI"/>
              </a:rPr>
              <a:t>⚠️ Template Recommended</a:t>
            </a:r>
          </a:p>
        </p:txBody>
      </p:sp>
      <!-- Summary -->
      <p:sp>
        <p:nvSpPr>
          <p:cNvPr id="26" name="Summary"/>
          <p:cNvSpPr txBox="1"/>
          <p:nvPr/>
        </p:nvSpPr>
        <p:spPr>
          <a:xfrm>
            <a:off x="457200" y="5200000"/>
            <a:ext cx="11277600" cy="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i="1">
                <a:solidFill>
                  <a:srgbClr val="7B2CBF"/>
                </a:solidFill>
                <a:latin typeface="Segoe UI"/>
              </a:rPr>
              <a:t>Use Gemini for casual new presentations, ClaudeSlide for enterprise template 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2EC4B6"/>
                </a:solidFill>
                <a:latin typeface="Segoe UI Light"/>
              </a:rPr>
              <a:t>Use Cases</a:t>
            </a:r>
          </a:p>
        </p:txBody>
      </p:sp>
      <!-- Subtitle -->
      <p:sp>
        <p:nvSpPr>
          <p:cNvPr id="4" name="Subtitle"/>
          <p:cNvSpPr txBox="1"/>
          <p:nvPr/>
        </p:nvSpPr>
        <p:spPr>
          <a:xfrm>
            <a:off x="457200" y="1189038"/>
            <a:ext cx="11277600" cy="457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2000">
                <a:solidFill>
                  <a:srgbClr val="E0E1DD"/>
                </a:solidFill>
                <a:latin typeface="Segoe UI"/>
              </a:rPr>
              <a:t>Real-world examples of what you can accomplish with ClaudeSlide</a:t>
            </a:r>
          </a:p>
        </p:txBody>
      </p:sp>
      <!-- Use Case 1 -->
      <p:sp>
        <p:nvSpPr>
          <p:cNvPr id="5" name="UseCase1"/>
          <p:cNvSpPr/>
          <p:nvPr/>
        </p:nvSpPr>
        <p:spPr>
          <a:xfrm>
            <a:off x="457200" y="18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00D4FF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00D4FF"/>
                </a:solidFill>
                <a:latin typeface="Segoe UI"/>
              </a:rPr>
              <a:t>Batch Text Updates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"Replace all occurrences of '2024' with '2025' across all slides"</a:t>
            </a:r>
          </a:p>
        </p:txBody>
      </p:sp>
      <!-- Use Case 2 -->
      <p:sp>
        <p:nvSpPr>
          <p:cNvPr id="6" name="UseCase2"/>
          <p:cNvSpPr/>
          <p:nvPr/>
        </p:nvSpPr>
        <p:spPr>
          <a:xfrm>
            <a:off x="6234800" y="18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7B2CBF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7B2CBF"/>
                </a:solidFill>
                <a:latin typeface="Segoe UI"/>
              </a:rPr>
              <a:t>Add New Content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"Insert a new slide after slide 3 with Q4 sales data as bullet points"</a:t>
            </a:r>
          </a:p>
        </p:txBody>
      </p:sp>
      <!-- Use Case 3 -->
      <p:sp>
        <p:nvSpPr>
          <p:cNvPr id="7" name="UseCase3"/>
          <p:cNvSpPr/>
          <p:nvPr/>
        </p:nvSpPr>
        <p:spPr>
          <a:xfrm>
            <a:off x="457200" y="31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E63946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E63946"/>
                </a:solidFill>
                <a:latin typeface="Segoe UI"/>
              </a:rPr>
              <a:t>Style Updates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"Change all headings to 32pt and update accent color to #1a73e8"</a:t>
            </a:r>
          </a:p>
        </p:txBody>
      </p:sp>
      <!-- Use Case 4 -->
      <p:sp>
        <p:nvSpPr>
          <p:cNvPr id="8" name="UseCase4"/>
          <p:cNvSpPr/>
          <p:nvPr/>
        </p:nvSpPr>
        <p:spPr>
          <a:xfrm>
            <a:off x="6234800" y="31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2EC4B6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2EC4B6"/>
                </a:solidFill>
                <a:latin typeface="Segoe UI"/>
              </a:rPr>
              <a:t>Generate Charts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"Create an SVG pie chart on slide 5: 60% Domestic, 40% International"</a:t>
            </a:r>
          </a:p>
        </p:txBody>
      </p:sp>
      <!-- Use Case 5 -->
      <p:sp>
        <p:nvSpPr>
          <p:cNvPr id="9" name="UseCase5"/>
          <p:cNvSpPr/>
          <p:nvPr/>
        </p:nvSpPr>
        <p:spPr>
          <a:xfrm>
            <a:off x="457200" y="44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4ECDC4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4ECDC4"/>
                </a:solidFill>
                <a:latin typeface="Segoe UI"/>
              </a:rPr>
              <a:t>Summarize Content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"Condense this 20-slide presentation to 10 slides, keeping key points"</a:t>
            </a:r>
          </a:p>
        </p:txBody>
      </p:sp>
      <!-- Use Case 6 -->
      <p:sp>
        <p:nvSpPr>
          <p:cNvPr id="10" name="UseCase6"/>
          <p:cNvSpPr/>
          <p:nvPr/>
        </p:nvSpPr>
        <p:spPr>
          <a:xfrm>
            <a:off x="6234800" y="4400000"/>
            <a:ext cx="5500000" cy="1100000"/>
          </a:xfrm>
          <a:prstGeom prst="roundRect">
            <a:avLst>
              <a:gd name="adj" fmla="val 8000"/>
            </a:avLst>
          </a:prstGeom>
          <a:solidFill>
            <a:srgbClr val="1B263B">
              <a:alpha val="70000"/>
            </a:srgbClr>
          </a:solidFill>
          <a:ln w="25400">
            <a:solidFill>
              <a:srgbClr val="FF6B6B"/>
            </a:solidFill>
          </a:ln>
        </p:spPr>
        <p:txBody>
          <a:bodyPr anchor="ctr" lIns="228600" rIns="228600"/>
          <a:lstStyle/>
          <a:p>
            <a:r>
              <a:rPr lang="en-US" sz="1800" b="1">
                <a:solidFill>
                  <a:srgbClr val="FF6B6B"/>
                </a:solidFill>
                <a:latin typeface="Segoe UI"/>
              </a:rPr>
              <a:t>Reorder Slides</a:t>
            </a:r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"Move the conclusion slide to the beginning as an executive summary"</a:t>
            </a:r>
          </a:p>
        </p:txBody>
      </p:sp>
      <!-- Bottom text -->
      <p:sp>
        <p:nvSpPr>
          <p:cNvPr id="11" name="BottomText"/>
          <p:cNvSpPr txBox="1"/>
          <p:nvPr/>
        </p:nvSpPr>
        <p:spPr>
          <a:xfrm>
            <a:off x="457200" y="5700000"/>
            <a:ext cx="11277600" cy="6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i="1">
                <a:solidFill>
                  <a:srgbClr val="7B2CBF"/>
                </a:solidFill>
                <a:latin typeface="Segoe UI"/>
              </a:rPr>
              <a:t>Just describe what you want in natural language - Claude handles the XML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100000">
              <a:srgbClr val="1B26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Accent bar -->
      <p:sp>
        <p:nvSpPr>
          <p:cNvPr id="2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5400000" scaled="0"/>
          </a:gradFill>
        </p:spPr>
        <p:txBody>
          <a:bodyPr/>
          <a:lstStyle/>
          <a:p>
            <a:endParaRPr lang="en-US"/>
          </a:p>
        </p:txBody>
      </p:sp>
      <!-- Title -->
      <p:sp>
        <p:nvSpPr>
          <p:cNvPr id="3" name="Title"/>
          <p:cNvSpPr txBox="1"/>
          <p:nvPr/>
        </p:nvSpPr>
        <p:spPr>
          <a:xfrm>
            <a:off x="457200" y="274638"/>
            <a:ext cx="11277600" cy="914400"/>
          </a:xfrm>
          <a:prstGeom prst="rect">
            <a:avLst/>
          </a:prstGeom>
          <a:noFill/>
        </p:spPr>
        <p:txBody>
          <a:bodyPr anchor="b"/>
          <a:lstStyle/>
          <a:p>
            <a:r>
              <a:rPr lang="en-US" sz="4400" b="1">
                <a:solidFill>
                  <a:srgbClr val="00D4FF"/>
                </a:solidFill>
                <a:latin typeface="Segoe UI Light"/>
              </a:rPr>
              <a:t>Getting Started</a:t>
            </a:r>
          </a:p>
        </p:txBody>
      </p:sp>
      <!-- Installation Box -->
      <p:sp>
        <p:nvSpPr>
          <p:cNvPr id="4" name="InstallBox"/>
          <p:cNvSpPr/>
          <p:nvPr/>
        </p:nvSpPr>
        <p:spPr>
          <a:xfrm>
            <a:off x="457200" y="1500000"/>
            <a:ext cx="5400000" cy="18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00D4FF"/>
            </a:solidFill>
          </a:ln>
        </p:spPr>
        <p:txBody>
          <a:bodyPr anchor="t" lIns="274320" rIns="274320" tIns="228600" bIns="228600"/>
          <a:lstStyle/>
          <a:p>
            <a:r>
              <a:rPr lang="en-US" sz="2000" b="1">
                <a:solidFill>
                  <a:srgbClr val="00D4FF"/>
                </a:solidFill>
                <a:latin typeface="Segoe UI"/>
              </a:rPr>
              <a:t>1. Installation</a:t>
            </a:r>
          </a:p>
          <a:p>
            <a:endParaRPr lang="en-US" sz="800"/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npm install -g claudeslide</a:t>
            </a:r>
          </a:p>
          <a:p>
            <a:endParaRPr lang="en-US" sz="1000"/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Requires Node.js 18+ and Claude Code CLI</a:t>
            </a:r>
          </a:p>
        </p:txBody>
      </p:sp>
      <!-- Init Box -->
      <p:sp>
        <p:nvSpPr>
          <p:cNvPr id="5" name="InitBox"/>
          <p:cNvSpPr/>
          <p:nvPr/>
        </p:nvSpPr>
        <p:spPr>
          <a:xfrm>
            <a:off x="6134800" y="1500000"/>
            <a:ext cx="5600000" cy="18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7B2CBF"/>
            </a:solidFill>
          </a:ln>
        </p:spPr>
        <p:txBody>
          <a:bodyPr anchor="t" lIns="274320" rIns="274320" tIns="228600" bIns="228600"/>
          <a:lstStyle/>
          <a:p>
            <a:r>
              <a:rPr lang="en-US" sz="2000" b="1">
                <a:solidFill>
                  <a:srgbClr val="7B2CBF"/>
                </a:solidFill>
                <a:latin typeface="Segoe UI"/>
              </a:rPr>
              <a:t>2. Initialize Project</a:t>
            </a:r>
          </a:p>
          <a:p>
            <a:endParaRPr lang="en-US" sz="800"/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npx claudeslide init template.pptx \</a:t>
            </a:r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  --name my-project</a:t>
            </a:r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cd my-project</a:t>
            </a:r>
          </a:p>
        </p:txBody>
      </p:sp>
      <!-- Edit Box -->
      <p:sp>
        <p:nvSpPr>
          <p:cNvPr id="6" name="EditBox"/>
          <p:cNvSpPr/>
          <p:nvPr/>
        </p:nvSpPr>
        <p:spPr>
          <a:xfrm>
            <a:off x="457200" y="3500000"/>
            <a:ext cx="5400000" cy="18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E63946"/>
            </a:solidFill>
          </a:ln>
        </p:spPr>
        <p:txBody>
          <a:bodyPr anchor="t" lIns="274320" rIns="274320" tIns="228600" bIns="228600"/>
          <a:lstStyle/>
          <a:p>
            <a:r>
              <a:rPr lang="en-US" sz="2000" b="1">
                <a:solidFill>
                  <a:srgbClr val="E63946"/>
                </a:solidFill>
                <a:latin typeface="Segoe UI"/>
              </a:rPr>
              <a:t>3. Edit with Claude</a:t>
            </a:r>
          </a:p>
          <a:p>
            <a:endParaRPr lang="en-US" sz="800"/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claude</a:t>
            </a:r>
          </a:p>
          <a:p>
            <a:endParaRPr lang="en-US" sz="1000"/>
          </a:p>
          <a:p>
            <a:r>
              <a:rPr lang="en-US" sz="1400">
                <a:solidFill>
                  <a:srgbClr val="E0E1DD"/>
                </a:solidFill>
                <a:latin typeface="Segoe UI"/>
              </a:rPr>
              <a:t>Start Claude Code and describe your edits in natural language</a:t>
            </a:r>
          </a:p>
        </p:txBody>
      </p:sp>
      <!-- Save Box -->
      <p:sp>
        <p:nvSpPr>
          <p:cNvPr id="7" name="SaveBox"/>
          <p:cNvSpPr/>
          <p:nvPr/>
        </p:nvSpPr>
        <p:spPr>
          <a:xfrm>
            <a:off x="6134800" y="3500000"/>
            <a:ext cx="5600000" cy="18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2EC4B6"/>
            </a:solidFill>
          </a:ln>
        </p:spPr>
        <p:txBody>
          <a:bodyPr anchor="t" lIns="274320" rIns="274320" tIns="228600" bIns="228600"/>
          <a:lstStyle/>
          <a:p>
            <a:r>
              <a:rPr lang="en-US" sz="2000" b="1">
                <a:solidFill>
                  <a:srgbClr val="2EC4B6"/>
                </a:solidFill>
                <a:latin typeface="Segoe UI"/>
              </a:rPr>
              <a:t>4. Save &amp; Export</a:t>
            </a:r>
          </a:p>
          <a:p>
            <a:endParaRPr lang="en-US" sz="800"/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npm run validate</a:t>
            </a:r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npm run preview</a:t>
            </a:r>
          </a:p>
          <a:p>
            <a:r>
              <a:rPr lang="en-US" sz="1600">
                <a:solidFill>
                  <a:srgbClr val="2EC4B6"/>
                </a:solidFill>
                <a:latin typeface="Consolas"/>
              </a:rPr>
              <a:t>npm run save</a:t>
            </a:r>
          </a:p>
        </p:txBody>
      </p:sp>
      <!-- Requirements -->
      <p:sp>
        <p:nvSpPr>
          <p:cNvPr id="8" name="Requirements"/>
          <p:cNvSpPr txBox="1"/>
          <p:nvPr/>
        </p:nvSpPr>
        <p:spPr>
          <a:xfrm>
            <a:off x="457200" y="5600000"/>
            <a:ext cx="11277600" cy="8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>
                <a:solidFill>
                  <a:srgbClr val="E0E1DD"/>
                </a:solidFill>
                <a:latin typeface="Segoe UI"/>
              </a:rPr>
              <a:t>Requirements: </a:t>
            </a:r>
            <a:r>
              <a:rPr lang="en-US" sz="1600">
                <a:solidFill>
                  <a:srgbClr val="00D4FF"/>
                </a:solidFill>
                <a:latin typeface="Segoe UI"/>
              </a:rPr>
              <a:t>Node.js 18+</a:t>
            </a:r>
            <a:r>
              <a:rPr lang="en-US" sz="1600">
                <a:solidFill>
                  <a:srgbClr val="E0E1DD"/>
                </a:solidFill>
                <a:latin typeface="Segoe UI"/>
              </a:rPr>
              <a:t> | </a:t>
            </a:r>
            <a:r>
              <a:rPr lang="en-US" sz="1600">
                <a:solidFill>
                  <a:srgbClr val="7B2CBF"/>
                </a:solidFill>
                <a:latin typeface="Segoe UI"/>
              </a:rPr>
              <a:t>Claude Code CLI</a:t>
            </a:r>
            <a:r>
              <a:rPr lang="en-US" sz="1600">
                <a:solidFill>
                  <a:srgbClr val="E0E1DD"/>
                </a:solidFill>
                <a:latin typeface="Segoe UI"/>
              </a:rPr>
              <a:t> | </a:t>
            </a:r>
            <a:r>
              <a:rPr lang="en-US" sz="1600">
                <a:solidFill>
                  <a:srgbClr val="2EC4B6"/>
                </a:solidFill>
                <a:latin typeface="Segoe UI"/>
              </a:rPr>
              <a:t>Git (recommended)</a:t>
            </a:r>
            <a:r>
              <a:rPr lang="en-US" sz="1600">
                <a:solidFill>
                  <a:srgbClr val="E0E1DD"/>
                </a:solidFill>
                <a:latin typeface="Segoe UI"/>
              </a:rPr>
              <a:t> | </a:t>
            </a:r>
            <a:r>
              <a:rPr lang="en-US" sz="1600">
                <a:solidFill>
                  <a:srgbClr val="E63946"/>
                </a:solidFill>
                <a:latin typeface="Segoe UI"/>
              </a:rPr>
              <a:t>LibreOffice (optional for preview)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50000">
              <a:srgbClr val="1B263B"/>
            </a:gs>
            <a:gs pos="100000">
              <a:srgbClr val="0D1B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gradient bar -->
      <p:sp>
        <p:nvSpPr>
          <p:cNvPr id="2" name="Top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</p:spPr>
        <p:txBody>
          <a:bodyPr/>
          <a:lstStyle/>
          <a:p>
            <a:endParaRPr lang="en-US"/>
          </a:p>
        </p:txBody>
      </p:sp>
      <!-- Thank you text -->
      <p:sp>
        <p:nvSpPr>
          <p:cNvPr id="3" name="ThankYou"/>
          <p:cNvSpPr txBox="1"/>
          <p:nvPr/>
        </p:nvSpPr>
        <p:spPr>
          <a:xfrm>
            <a:off x="609600" y="1500000"/>
            <a:ext cx="10972800" cy="10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Segoe UI Light"/>
              </a:rPr>
              <a:t>Thank You</a:t>
            </a:r>
          </a:p>
        </p:txBody>
      </p:sp>
      <!-- Get Started Command -->
      <p:sp>
        <p:nvSpPr>
          <p:cNvPr id="4" name="CommandBox"/>
          <p:cNvSpPr/>
          <p:nvPr/>
        </p:nvSpPr>
        <p:spPr>
          <a:xfrm>
            <a:off x="2500000" y="2700000"/>
            <a:ext cx="7192000" cy="800000"/>
          </a:xfrm>
          <a:prstGeom prst="roundRect">
            <a:avLst>
              <a:gd name="adj" fmla="val 15000"/>
            </a:avLst>
          </a:prstGeom>
          <a:solidFill>
            <a:srgbClr val="0D1B2A"/>
          </a:solidFill>
          <a:ln w="28575">
            <a:gradFill>
              <a:gsLst>
                <a:gs pos="0">
                  <a:srgbClr val="00D4FF"/>
                </a:gs>
                <a:gs pos="100000">
                  <a:srgbClr val="7B2CBF"/>
                </a:gs>
              </a:gsLst>
              <a:lin ang="0" scaled="0"/>
            </a:gradFill>
          </a:ln>
        </p:spPr>
        <p:txBody>
          <a:bodyPr anchor="ctr"/>
          <a:lstStyle/>
          <a:p>
            <a:pPr algn="ctr"/>
            <a:r>
              <a:rPr lang="en-US" sz="2400">
                <a:solidFill>
                  <a:srgbClr val="2EC4B6"/>
                </a:solidFill>
                <a:latin typeface="Consolas"/>
              </a:rPr>
              <a:t>npx claudeslide init your-template.pptx</a:t>
            </a:r>
          </a:p>
        </p:txBody>
      </p:sp>
      <!-- Links section -->
      <p:sp>
        <p:nvSpPr>
          <p:cNvPr id="5" name="LinksBox"/>
          <p:cNvSpPr/>
          <p:nvPr/>
        </p:nvSpPr>
        <p:spPr>
          <a:xfrm>
            <a:off x="2500000" y="3800000"/>
            <a:ext cx="7192000" cy="1600000"/>
          </a:xfrm>
          <a:prstGeom prst="roundRect">
            <a:avLst>
              <a:gd name="adj" fmla="val 8000"/>
            </a:avLst>
          </a:prstGeom>
          <a:solidFill>
            <a:srgbClr val="1B263B">
              <a:alpha val="50000"/>
            </a:srgbClr>
          </a:solidFill>
          <a:ln w="19050">
            <a:solidFill>
              <a:srgbClr val="7B2CBF">
                <a:alpha val="50000"/>
              </a:srgbClr>
            </a:solidFill>
          </a:ln>
        </p:spPr>
        <p:txBody>
          <a:bodyPr anchor="ctr" lIns="457200" rIns="457200"/>
          <a:lstStyle/>
          <a:p>
            <a:pPr algn="ctr"/>
            <a:r>
              <a:rPr lang="en-US" sz="2000" b="1">
                <a:solidFill>
                  <a:srgbClr val="00D4FF"/>
                </a:solidFill>
                <a:latin typeface="Segoe UI"/>
              </a:rPr>
              <a:t>npm</a:t>
            </a:r>
            <a:r>
              <a:rPr lang="en-US" sz="2000">
                <a:solidFill>
                  <a:srgbClr val="E0E1DD"/>
                </a:solidFill>
                <a:latin typeface="Segoe UI"/>
              </a:rPr>
              <a:t>  npmjs.com/package/claudeslide</a:t>
            </a:r>
          </a:p>
          <a:p>
            <a:pPr algn="ctr"/>
            <a:endParaRPr lang="en-US" sz="800"/>
          </a:p>
          <a:p>
            <a:pPr algn="ctr"/>
            <a:r>
              <a:rPr lang="en-US" sz="2000" b="1">
                <a:solidFill>
                  <a:srgbClr val="7B2CBF"/>
                </a:solidFill>
                <a:latin typeface="Segoe UI"/>
              </a:rPr>
              <a:t>GitHub</a:t>
            </a:r>
            <a:r>
              <a:rPr lang="en-US" sz="2000">
                <a:solidFill>
                  <a:srgbClr val="E0E1DD"/>
                </a:solidFill>
                <a:latin typeface="Segoe UI"/>
              </a:rPr>
              <a:t>  github.com/Ameyanagi/ClaudeSlide</a:t>
            </a:r>
          </a:p>
        </p:txBody>
      </p:sp>
      <!-- Tagline -->
      <p:sp>
        <p:nvSpPr>
          <p:cNvPr id="6" name="Tagline"/>
          <p:cNvSpPr txBox="1"/>
          <p:nvPr/>
        </p:nvSpPr>
        <p:spPr>
          <a:xfrm>
            <a:off x="609600" y="5700000"/>
            <a:ext cx="10972800" cy="6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i="1">
                <a:solidFill>
                  <a:srgbClr val="E0E1DD">
                    <a:alpha val="70000"/>
                  </a:srgbClr>
                </a:solidFill>
                <a:latin typeface="Segoe UI"/>
              </a:rPr>
              <a:t>Leveraging Claude's XML understanding for enterprise PowerPoint editing</a:t>
            </a:r>
          </a:p>
        </p:txBody>
      </p:sp>
      <!-- Bottom gradient bar -->
      <p:sp>
        <p:nvSpPr>
          <p:cNvPr id="7" name="Bottom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E63946"/>
              </a:gs>
              <a:gs pos="50000">
                <a:srgbClr val="7B2CBF"/>
              </a:gs>
              <a:gs pos="100000">
                <a:srgbClr val="00D4FF"/>
              </a:gs>
            </a:gsLst>
            <a:lin ang="0" scaled="0"/>
          </a:gradFill>
        </p:spPr>
        <p:txBody>
          <a:bodyPr/>
          <a:lstStyle/>
          <a:p>
            <a:endParaRPr lang="en-US"/>
          </a:p>
        </p:txBody>
      </p:sp>
      <!-- License -->
      <p:sp>
        <p:nvSpPr>
          <p:cNvPr id="8" name="License"/>
          <p:cNvSpPr txBox="1"/>
          <p:nvPr/>
        </p:nvSpPr>
        <p:spPr>
          <a:xfrm>
            <a:off x="609600" y="6400000"/>
            <a:ext cx="10972800" cy="3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E0E1DD">
                    <a:alpha val="50000"/>
                  </a:srgbClr>
                </a:solidFill>
                <a:latin typeface="Segoe UI"/>
              </a:rPr>
              <a:t>MIT License | Created by Ameyanagi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Dark">
  <a:themeElements>
    <a:clrScheme name="Modern Gradient">
      <a:dk1>
        <a:srgbClr val="0D1B2A"/>
      </a:dk1>
      <a:lt1>
        <a:srgbClr val="FFFFFF"/>
      </a:lt1>
      <a:dk2>
        <a:srgbClr val="1B263B"/>
      </a:dk2>
      <a:lt2>
        <a:srgbClr val="E0E1DD"/>
      </a:lt2>
      <a:accent1>
        <a:srgbClr val="00D4FF"/>
      </a:accent1>
      <a:accent2>
        <a:srgbClr val="7B2CBF"/>
      </a:accent2>
      <a:accent3>
        <a:srgbClr val="E63946"/>
      </a:accent3>
      <a:accent4>
        <a:srgbClr val="2EC4B6"/>
      </a:accent4>
      <a:accent5>
        <a:srgbClr val="FF6B6B"/>
      </a:accent5>
      <a:accent6>
        <a:srgbClr val="4ECDC4"/>
      </a:accent6>
      <a:hlink>
        <a:srgbClr val="00D4FF"/>
      </a:hlink>
      <a:folHlink>
        <a:srgbClr val="7B2CBF"/>
      </a:folHlink>
    </a:clrScheme>
    <a:fontScheme name="Modern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Moder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Arial</vt:lpstr>
      <vt:lpstr>Segoe UI</vt:lpstr>
      <vt:lpstr>Modern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Ryuichi Shimogawa</cp:lastModifiedBy>
  <cp:revision>1</cp:revision>
  <dcterms:modified xsi:type="dcterms:W3CDTF">2025-11-27T17:32:14Z</dcterms:modified>
</cp:coreProperties>
</file>